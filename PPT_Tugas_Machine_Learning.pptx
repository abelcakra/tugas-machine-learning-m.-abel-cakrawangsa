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ibre Baskerville" charset="1" panose="02000000000000000000"/>
      <p:regular r:id="rId14"/>
    </p:embeddedFont>
    <p:embeddedFont>
      <p:font typeface="Libre Baskerville Bold" charset="1" panose="02000000000000000000"/>
      <p:regular r:id="rId16"/>
    </p:embeddedFont>
    <p:embeddedFont>
      <p:font typeface="Libre Baskerville Italics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92024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22040" y="630936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1C7293">
                <a:alpha val="3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645920" y="7406640"/>
            <a:ext cx="4114800" cy="4114800"/>
            <a:chOff x="0" y="0"/>
            <a:chExt cx="5486400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851660"/>
            <a:ext cx="13030200" cy="548640"/>
            <a:chOff x="0" y="0"/>
            <a:chExt cx="17373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37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299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TUGAS KELOMPOK — MACHINE LEARNING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2537460"/>
            <a:ext cx="14538960" cy="3154680"/>
            <a:chOff x="0" y="0"/>
            <a:chExt cx="19385280" cy="4206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852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00" r="0" b="-3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9385280" cy="4196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5100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Analisis &amp; Implementasi Decision Tree dan Naive Bayes untuk Prediksi Kelulusan Tepat Waktu Mahasiswa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5692140"/>
            <a:ext cx="12344400" cy="548640"/>
            <a:chOff x="0" y="0"/>
            <a:chExt cx="16459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Bagian B &amp; C — Rekomendasi &amp; Etika Penggunaan Model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16980">
            <a:off x="1220114" y="6642735"/>
            <a:ext cx="5789362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4440" y="6666558"/>
            <a:ext cx="6626961" cy="3146679"/>
            <a:chOff x="0" y="0"/>
            <a:chExt cx="7083086" cy="33632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3086" cy="3363261"/>
            </a:xfrm>
            <a:custGeom>
              <a:avLst/>
              <a:gdLst/>
              <a:ahLst/>
              <a:cxnLst/>
              <a:rect r="r" b="b" t="t" l="l"/>
              <a:pathLst>
                <a:path h="3363261" w="7083086">
                  <a:moveTo>
                    <a:pt x="0" y="0"/>
                  </a:moveTo>
                  <a:lnTo>
                    <a:pt x="7083086" y="0"/>
                  </a:lnTo>
                  <a:lnTo>
                    <a:pt x="7083086" y="3363261"/>
                  </a:lnTo>
                  <a:lnTo>
                    <a:pt x="0" y="3363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4" r="48361" b="6929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083086" cy="3420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Kelompok:</a:t>
              </a:r>
            </a:p>
            <a:p>
              <a:pPr algn="l" marL="550542" indent="-275271" lvl="1">
                <a:lnSpc>
                  <a:spcPts val="3569"/>
                </a:lnSpc>
                <a:buAutoNum type="arabicPeriod" startAt="1"/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Muhammad Nathan Algibran (G1A024057)</a:t>
              </a:r>
            </a:p>
            <a:p>
              <a:pPr algn="l" marL="550542" indent="-275271" lvl="1">
                <a:lnSpc>
                  <a:spcPts val="3569"/>
                </a:lnSpc>
                <a:buAutoNum type="arabicPeriod" startAt="1"/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Muhammad Abel Cakrawangsa (G1A024077)</a:t>
              </a:r>
            </a:p>
            <a:p>
              <a:pPr algn="l">
                <a:lnSpc>
                  <a:spcPts val="3569"/>
                </a:lnSpc>
              </a:pPr>
            </a:p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150" y="9021874"/>
            <a:ext cx="7543800" cy="480060"/>
            <a:chOff x="0" y="0"/>
            <a:chExt cx="100584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0584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Program Studi Informatika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9501934"/>
            <a:ext cx="11928055" cy="480060"/>
            <a:chOff x="0" y="0"/>
            <a:chExt cx="15904074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904074" cy="640080"/>
            </a:xfrm>
            <a:custGeom>
              <a:avLst/>
              <a:gdLst/>
              <a:ahLst/>
              <a:cxnLst/>
              <a:rect r="r" b="b" t="t" l="l"/>
              <a:pathLst>
                <a:path h="640080" w="15904074">
                  <a:moveTo>
                    <a:pt x="0" y="0"/>
                  </a:moveTo>
                  <a:lnTo>
                    <a:pt x="15904074" y="0"/>
                  </a:lnTo>
                  <a:lnTo>
                    <a:pt x="1590407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70102" b="-947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590407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Repositori Github : https://github.com/Nathan-Algibran/TUGAS-MACHINE-LEARNING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2344400" cy="822960"/>
            <a:chOff x="0" y="0"/>
            <a:chExt cx="16459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42" r="0" b="-238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Latar Belakang &amp; Dataset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16184880" cy="548640"/>
            <a:chOff x="0" y="0"/>
            <a:chExt cx="215798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5798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7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Prediksi status kelulusan tepat waktu mahasiswa dari data akademik &amp; aktivitas belajar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400300"/>
            <a:ext cx="8366760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Fitur dataset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IPK, Kehadiran, Nilai_Tugas, Partisipasi_Diskusi, Aktivitas_ELearning, Penghasilan_Ortu, dan Jenis_Kelamin — target: Status_Akademik (Lulus tepat waktu / Tidak).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Praproses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Pembersihan data, encoding fitur kategorikal, lalu split 80:20 menjadi data latih dan data uji.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yang dibandingkan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Tree (max_depth=3), Decision Tree (tanpa batas kedalaman), dan Gaussian Naive Bayes.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06940" y="2606040"/>
            <a:ext cx="7132320" cy="1577340"/>
            <a:chOff x="0" y="0"/>
            <a:chExt cx="9509760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9840" y="2770632"/>
            <a:ext cx="2468880" cy="1234440"/>
            <a:chOff x="0" y="0"/>
            <a:chExt cx="329184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91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500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50140" y="2770632"/>
            <a:ext cx="4114800" cy="1234440"/>
            <a:chOff x="0" y="0"/>
            <a:chExt cx="548640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data mahasiswa (400 latih · 100 uji)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06940" y="4457700"/>
            <a:ext cx="7132320" cy="1577340"/>
            <a:chOff x="0" y="0"/>
            <a:chExt cx="9509760" cy="2103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55377" y="4659630"/>
            <a:ext cx="2857805" cy="1234440"/>
            <a:chOff x="0" y="0"/>
            <a:chExt cx="3810407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407" cy="1645920"/>
            </a:xfrm>
            <a:custGeom>
              <a:avLst/>
              <a:gdLst/>
              <a:ahLst/>
              <a:cxnLst/>
              <a:rect r="r" b="b" t="t" l="l"/>
              <a:pathLst>
                <a:path h="1645920" w="3810407">
                  <a:moveTo>
                    <a:pt x="0" y="0"/>
                  </a:moveTo>
                  <a:lnTo>
                    <a:pt x="3810407" y="0"/>
                  </a:lnTo>
                  <a:lnTo>
                    <a:pt x="3810407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5" t="0" r="138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407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54% / 46%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50140" y="4622292"/>
            <a:ext cx="4114800" cy="1234440"/>
            <a:chOff x="0" y="0"/>
            <a:chExt cx="548640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sebaran kelas Lulus vs Tidak — relatif seimbang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6309360"/>
            <a:ext cx="7132320" cy="1577340"/>
            <a:chOff x="0" y="0"/>
            <a:chExt cx="9509760" cy="210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149840" y="6473952"/>
            <a:ext cx="2468880" cy="1234440"/>
            <a:chOff x="0" y="0"/>
            <a:chExt cx="329184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1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91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550140" y="6473952"/>
            <a:ext cx="4114800" cy="1234440"/>
            <a:chOff x="0" y="0"/>
            <a:chExt cx="548640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fitur akademik &amp; sosio-demografis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06940" y="8229600"/>
            <a:ext cx="7132320" cy="1577340"/>
            <a:chOff x="0" y="0"/>
            <a:chExt cx="9509760" cy="2103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49840" y="8394192"/>
            <a:ext cx="6446520" cy="1303020"/>
            <a:chOff x="0" y="0"/>
            <a:chExt cx="859536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99" r="0" b="-463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5953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Karena kelas relatif seimbang, akurasi cukup representatif — berbeda dari kasus dataset timpang yang butuh metrik tambahan.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2344400" cy="822960"/>
            <a:chOff x="0" y="0"/>
            <a:chExt cx="16459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42" r="0" b="-238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Hasil Evaluasi 3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" y="1520862"/>
            <a:ext cx="9000943" cy="5143784"/>
            <a:chOff x="0" y="0"/>
            <a:chExt cx="13215701" cy="75523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15700" cy="7552399"/>
            </a:xfrm>
            <a:custGeom>
              <a:avLst/>
              <a:gdLst/>
              <a:ahLst/>
              <a:cxnLst/>
              <a:rect r="r" b="b" t="t" l="l"/>
              <a:pathLst>
                <a:path h="7552399" w="13215700">
                  <a:moveTo>
                    <a:pt x="0" y="138933"/>
                  </a:moveTo>
                  <a:cubicBezTo>
                    <a:pt x="0" y="62135"/>
                    <a:pt x="68627" y="0"/>
                    <a:pt x="153449" y="0"/>
                  </a:cubicBezTo>
                  <a:lnTo>
                    <a:pt x="13062252" y="0"/>
                  </a:lnTo>
                  <a:cubicBezTo>
                    <a:pt x="13146940" y="0"/>
                    <a:pt x="13215700" y="62135"/>
                    <a:pt x="13215700" y="138933"/>
                  </a:cubicBezTo>
                  <a:lnTo>
                    <a:pt x="13215700" y="7413465"/>
                  </a:lnTo>
                  <a:cubicBezTo>
                    <a:pt x="13215700" y="7490143"/>
                    <a:pt x="13147073" y="7552399"/>
                    <a:pt x="13062252" y="7552399"/>
                  </a:cubicBezTo>
                  <a:lnTo>
                    <a:pt x="153449" y="7552399"/>
                  </a:lnTo>
                  <a:cubicBezTo>
                    <a:pt x="68627" y="7552399"/>
                    <a:pt x="0" y="7490262"/>
                    <a:pt x="0" y="741346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08760" y="1645920"/>
            <a:ext cx="8309763" cy="4869180"/>
            <a:chOff x="0" y="0"/>
            <a:chExt cx="12359309" cy="7242048"/>
          </a:xfrm>
        </p:grpSpPr>
        <p:sp>
          <p:nvSpPr>
            <p:cNvPr name="Freeform 10" id="10" descr="perbandingan_metrik.png"/>
            <p:cNvSpPr/>
            <p:nvPr/>
          </p:nvSpPr>
          <p:spPr>
            <a:xfrm flipH="false" flipV="false" rot="0">
              <a:off x="0" y="0"/>
              <a:ext cx="12359309" cy="7242048"/>
            </a:xfrm>
            <a:custGeom>
              <a:avLst/>
              <a:gdLst/>
              <a:ahLst/>
              <a:cxnLst/>
              <a:rect r="r" b="b" t="t" l="l"/>
              <a:pathLst>
                <a:path h="7242048" w="12359309">
                  <a:moveTo>
                    <a:pt x="0" y="0"/>
                  </a:moveTo>
                  <a:lnTo>
                    <a:pt x="12359309" y="0"/>
                  </a:lnTo>
                  <a:lnTo>
                    <a:pt x="12359309" y="7242048"/>
                  </a:lnTo>
                  <a:lnTo>
                    <a:pt x="0" y="724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98" r="0" b="-11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29900" y="1714500"/>
            <a:ext cx="6720840" cy="480060"/>
            <a:chOff x="0" y="0"/>
            <a:chExt cx="896112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9611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Akurasi · Precision · Recall · F1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629900" y="2263140"/>
          <a:ext cx="6705600" cy="2286000"/>
        </p:xfrm>
        <a:graphic>
          <a:graphicData uri="http://schemas.openxmlformats.org/drawingml/2006/table">
            <a:tbl>
              <a:tblPr/>
              <a:tblGrid>
                <a:gridCol w="3411224"/>
                <a:gridCol w="1647188"/>
                <a:gridCol w="1647188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Akurasi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43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DT (depth=3)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43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DT (depth=None)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0.69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Gaussian NB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0629900" y="4878705"/>
            <a:ext cx="672084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Gaussian Naive Bayes tampil terbaik di semua metrik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(akurasi 75%, F1 0.73), diikuti Decision Tree tanpa batas kedalaman. Decision Tree (depth=3) sedikit lebih rendah namun paling mudah dijelaskan (interpretable).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289940" y="6988496"/>
            <a:ext cx="11708121" cy="2830449"/>
            <a:chOff x="0" y="0"/>
            <a:chExt cx="15515420" cy="37508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15420" cy="3750867"/>
            </a:xfrm>
            <a:custGeom>
              <a:avLst/>
              <a:gdLst/>
              <a:ahLst/>
              <a:cxnLst/>
              <a:rect r="r" b="b" t="t" l="l"/>
              <a:pathLst>
                <a:path h="3750867" w="15515420">
                  <a:moveTo>
                    <a:pt x="0" y="206944"/>
                  </a:moveTo>
                  <a:cubicBezTo>
                    <a:pt x="0" y="92694"/>
                    <a:pt x="46139" y="0"/>
                    <a:pt x="103007" y="0"/>
                  </a:cubicBezTo>
                  <a:lnTo>
                    <a:pt x="15412413" y="0"/>
                  </a:lnTo>
                  <a:cubicBezTo>
                    <a:pt x="15469282" y="0"/>
                    <a:pt x="15515420" y="92694"/>
                    <a:pt x="15515420" y="206944"/>
                  </a:cubicBezTo>
                  <a:lnTo>
                    <a:pt x="15515420" y="3543922"/>
                  </a:lnTo>
                  <a:cubicBezTo>
                    <a:pt x="15515420" y="3658173"/>
                    <a:pt x="15469282" y="3750867"/>
                    <a:pt x="15412413" y="3750867"/>
                  </a:cubicBezTo>
                  <a:lnTo>
                    <a:pt x="103007" y="3750867"/>
                  </a:lnTo>
                  <a:cubicBezTo>
                    <a:pt x="46139" y="3750867"/>
                    <a:pt x="0" y="3658173"/>
                    <a:pt x="0" y="3543922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548114" y="6791325"/>
            <a:ext cx="11191772" cy="3321842"/>
            <a:chOff x="0" y="0"/>
            <a:chExt cx="21086002" cy="6258560"/>
          </a:xfrm>
        </p:grpSpPr>
        <p:sp>
          <p:nvSpPr>
            <p:cNvPr name="Freeform 19" id="19" descr="confusion_matrices.png"/>
            <p:cNvSpPr/>
            <p:nvPr/>
          </p:nvSpPr>
          <p:spPr>
            <a:xfrm flipH="false" flipV="false" rot="0">
              <a:off x="0" y="0"/>
              <a:ext cx="21086001" cy="6258560"/>
            </a:xfrm>
            <a:custGeom>
              <a:avLst/>
              <a:gdLst/>
              <a:ahLst/>
              <a:cxnLst/>
              <a:rect r="r" b="b" t="t" l="l"/>
              <a:pathLst>
                <a:path h="6258560" w="21086001">
                  <a:moveTo>
                    <a:pt x="0" y="0"/>
                  </a:moveTo>
                  <a:lnTo>
                    <a:pt x="21086001" y="0"/>
                  </a:lnTo>
                  <a:lnTo>
                    <a:pt x="21086001" y="6258560"/>
                  </a:lnTo>
                  <a:lnTo>
                    <a:pt x="0" y="625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7" r="0" b="-5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4401800" cy="766191"/>
            <a:chOff x="0" y="0"/>
            <a:chExt cx="19202400" cy="10215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021588"/>
            </a:xfrm>
            <a:custGeom>
              <a:avLst/>
              <a:gdLst/>
              <a:ahLst/>
              <a:cxnLst/>
              <a:rect r="r" b="b" t="t" l="l"/>
              <a:pathLst>
                <a:path h="102158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1588"/>
                  </a:lnTo>
                  <a:lnTo>
                    <a:pt x="0" y="1021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023" r="0" b="-315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021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Struktur Decision Tree &amp; Fitur Penentu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8809" y="1704975"/>
            <a:ext cx="11453636" cy="7289390"/>
            <a:chOff x="0" y="0"/>
            <a:chExt cx="14838680" cy="9443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38680" cy="9443720"/>
            </a:xfrm>
            <a:custGeom>
              <a:avLst/>
              <a:gdLst/>
              <a:ahLst/>
              <a:cxnLst/>
              <a:rect r="r" b="b" t="t" l="l"/>
              <a:pathLst>
                <a:path h="9443720" w="148386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4691996" y="0"/>
                  </a:lnTo>
                  <a:cubicBezTo>
                    <a:pt x="14773022" y="0"/>
                    <a:pt x="14838680" y="65659"/>
                    <a:pt x="14838680" y="146685"/>
                  </a:cubicBezTo>
                  <a:lnTo>
                    <a:pt x="14838680" y="9297035"/>
                  </a:lnTo>
                  <a:cubicBezTo>
                    <a:pt x="14838680" y="9378061"/>
                    <a:pt x="14773022" y="9443720"/>
                    <a:pt x="14691996" y="9443720"/>
                  </a:cubicBezTo>
                  <a:lnTo>
                    <a:pt x="146685" y="9443720"/>
                  </a:lnTo>
                  <a:cubicBezTo>
                    <a:pt x="65659" y="9443720"/>
                    <a:pt x="0" y="9378061"/>
                    <a:pt x="0" y="92970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7553" y="1920240"/>
            <a:ext cx="11079627" cy="5539813"/>
            <a:chOff x="0" y="0"/>
            <a:chExt cx="14264640" cy="7132320"/>
          </a:xfrm>
        </p:grpSpPr>
        <p:sp>
          <p:nvSpPr>
            <p:cNvPr name="Freeform 10" id="10" descr="decision_tree_depth3.png"/>
            <p:cNvSpPr/>
            <p:nvPr/>
          </p:nvSpPr>
          <p:spPr>
            <a:xfrm flipH="false" flipV="false" rot="0">
              <a:off x="0" y="0"/>
              <a:ext cx="14264639" cy="7132320"/>
            </a:xfrm>
            <a:custGeom>
              <a:avLst/>
              <a:gdLst/>
              <a:ahLst/>
              <a:cxnLst/>
              <a:rect r="r" b="b" t="t" l="l"/>
              <a:pathLst>
                <a:path h="713232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7132320"/>
                  </a:lnTo>
                  <a:lnTo>
                    <a:pt x="0" y="713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7629754"/>
            <a:ext cx="10698480" cy="480060"/>
            <a:chOff x="0" y="0"/>
            <a:chExt cx="1426464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64639" cy="640080"/>
            </a:xfrm>
            <a:custGeom>
              <a:avLst/>
              <a:gdLst/>
              <a:ahLst/>
              <a:cxnLst/>
              <a:rect r="r" b="b" t="t" l="l"/>
              <a:pathLst>
                <a:path h="64008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237" r="0" b="-3842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264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5B6B77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Decision Tree (max_depth=3) — akar pemisah: IPK ≤ 2.475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42445" y="2562515"/>
            <a:ext cx="6201577" cy="594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646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Pola pemisah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IPK jadi pemisah pertama, diikuti Nilai_Tugas, lalu Kehadiran, Partisipasi_Diskusi, dan Aktivitas_ELearning — semuanya fitur akademik/aktivitas belajar.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3176"/>
              </a:lnSpc>
            </a:pPr>
            <a:r>
              <a:rPr lang="en-US" sz="2646" b="true">
                <a:solidFill>
                  <a:srgbClr val="B8504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Catatan fairness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Penghasilan_Ortu dan Jenis_Kelamin tidak muncul pada 3 level teratas pohon ini — berbeda dari kasus di mana fitur sosio-ekonomi mendominasi. Tetap perlu audit keadilan sebelum dipakai untuk keputusan resmi (mis. beasiswa).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768096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8760" y="685800"/>
            <a:ext cx="14401800" cy="822960"/>
            <a:chOff x="0" y="0"/>
            <a:chExt cx="1920240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154" r="0" b="-2868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Simulasi Prediksi &amp; Kesimpulan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783080"/>
            <a:ext cx="16527780" cy="2348103"/>
            <a:chOff x="0" y="0"/>
            <a:chExt cx="22037040" cy="31308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41" cy="3130804"/>
            </a:xfrm>
            <a:custGeom>
              <a:avLst/>
              <a:gdLst/>
              <a:ahLst/>
              <a:cxnLst/>
              <a:rect r="r" b="b" t="t" l="l"/>
              <a:pathLst>
                <a:path h="3130804" w="22037041">
                  <a:moveTo>
                    <a:pt x="0" y="161590"/>
                  </a:moveTo>
                  <a:cubicBezTo>
                    <a:pt x="0" y="72379"/>
                    <a:pt x="65532" y="0"/>
                    <a:pt x="146304" y="0"/>
                  </a:cubicBezTo>
                  <a:lnTo>
                    <a:pt x="21890737" y="0"/>
                  </a:lnTo>
                  <a:cubicBezTo>
                    <a:pt x="21971508" y="0"/>
                    <a:pt x="22037041" y="72379"/>
                    <a:pt x="22037041" y="161590"/>
                  </a:cubicBezTo>
                  <a:lnTo>
                    <a:pt x="22037041" y="2969214"/>
                  </a:lnTo>
                  <a:cubicBezTo>
                    <a:pt x="22037041" y="3058425"/>
                    <a:pt x="21971508" y="3130804"/>
                    <a:pt x="21890737" y="3130804"/>
                  </a:cubicBezTo>
                  <a:lnTo>
                    <a:pt x="146304" y="3130804"/>
                  </a:lnTo>
                  <a:cubicBezTo>
                    <a:pt x="65532" y="3130804"/>
                    <a:pt x="0" y="3058425"/>
                    <a:pt x="0" y="29692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1900388"/>
            <a:ext cx="15841980" cy="2113487"/>
            <a:chOff x="0" y="0"/>
            <a:chExt cx="21122640" cy="2817983"/>
          </a:xfrm>
        </p:grpSpPr>
        <p:sp>
          <p:nvSpPr>
            <p:cNvPr name="Freeform 12" id="12" descr="Cuplikan_layar_2026-09-07_231044.png"/>
            <p:cNvSpPr/>
            <p:nvPr/>
          </p:nvSpPr>
          <p:spPr>
            <a:xfrm flipH="false" flipV="false" rot="0">
              <a:off x="0" y="0"/>
              <a:ext cx="21122639" cy="2817983"/>
            </a:xfrm>
            <a:custGeom>
              <a:avLst/>
              <a:gdLst/>
              <a:ahLst/>
              <a:cxnLst/>
              <a:rect r="r" b="b" t="t" l="l"/>
              <a:pathLst>
                <a:path h="2817983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2817983"/>
                  </a:lnTo>
                  <a:lnTo>
                    <a:pt x="0" y="2817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7" r="0" b="-48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4131183"/>
            <a:ext cx="16527780" cy="438912"/>
            <a:chOff x="0" y="0"/>
            <a:chExt cx="2203704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37039" cy="585216"/>
            </a:xfrm>
            <a:custGeom>
              <a:avLst/>
              <a:gdLst/>
              <a:ahLst/>
              <a:cxnLst/>
              <a:rect r="r" b="b" t="t" l="l"/>
              <a:pathLst>
                <a:path h="58521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733" r="0" b="-6837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2037040" cy="57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9FB3C8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Contoh hasil prediksi model pada data uji (kolom Status_Akademik = label aktual, Prediksi_Model = keluaran model)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22960" y="4741545"/>
            <a:ext cx="809244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sesekali salah pada kasus kontras —</a:t>
            </a:r>
            <a:r>
              <a:rPr lang="en-US" sz="1875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mis. mahasiswa index 429 dengan IPK tinggi (3,8) tapi kehadiran rendah (52%) diprediksi “Lulus” padahal aktualnya “Tidak”. Ini menunjukkan model masih bisa terlalu mengandalkan satu fitur dominan.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86850" y="4457506"/>
            <a:ext cx="2855595" cy="4673159"/>
            <a:chOff x="0" y="0"/>
            <a:chExt cx="3591560" cy="587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05188" y="5006340"/>
            <a:ext cx="2194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Gaussian Naive Bayes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17368" y="6044565"/>
            <a:ext cx="219456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Rekomendasi baseline utama — metrik tertinggi &amp; cepat dihitung.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5790" y="4457506"/>
            <a:ext cx="2855595" cy="4673159"/>
            <a:chOff x="0" y="0"/>
            <a:chExt cx="3591560" cy="5877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454128" y="5006340"/>
            <a:ext cx="2194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Decision Tree (depth=3)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7002" y="6044565"/>
            <a:ext cx="245168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Pilih jika aturan perlu mudah dijelaskan ke pihak kampus.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000447" y="4483227"/>
            <a:ext cx="2839878" cy="4647438"/>
            <a:chOff x="0" y="0"/>
            <a:chExt cx="3591560" cy="5877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5403068" y="5006340"/>
            <a:ext cx="21945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Langkah lanjut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03068" y="6044565"/>
            <a:ext cx="21945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Uji fitur tambahan &amp; audit keadilan sebelum dipakai institusional.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DAHUiKChZws</dc:identifier>
  <dcterms:modified xsi:type="dcterms:W3CDTF">2011-08-01T06:04:30Z</dcterms:modified>
  <cp:revision>1</cp:revision>
  <dc:title>TUGAS MACHINE LEARNING_PREDIKSI KELULUSAN MAHASISWA.pptx</dc:title>
</cp:coreProperties>
</file>