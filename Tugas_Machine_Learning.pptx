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1"/>
  </p:notes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Libre Baskerville" charset="1" panose="02000000000000000000"/>
      <p:regular r:id="rId14"/>
    </p:embeddedFont>
    <p:embeddedFont>
      <p:font typeface="Libre Baskerville Bold" charset="1" panose="02000000000000000000"/>
      <p:regular r:id="rId16"/>
    </p:embeddedFont>
    <p:embeddedFont>
      <p:font typeface="Libre Baskerville Italics" charset="1" panose="020000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notesMasters/notesMaster1.xml" Type="http://schemas.openxmlformats.org/officeDocument/2006/relationships/notesMaster"/><Relationship Id="rId12" Target="theme/theme2.xml" Type="http://schemas.openxmlformats.org/officeDocument/2006/relationships/theme"/><Relationship Id="rId13" Target="notesSlides/notesSlide1.xml" Type="http://schemas.openxmlformats.org/officeDocument/2006/relationships/notesSlide"/><Relationship Id="rId14" Target="fonts/font14.fntdata" Type="http://schemas.openxmlformats.org/officeDocument/2006/relationships/font"/><Relationship Id="rId15" Target="notesSlides/notesSlide2.xml" Type="http://schemas.openxmlformats.org/officeDocument/2006/relationships/notes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notesSlides/notesSlide3.xml" Type="http://schemas.openxmlformats.org/officeDocument/2006/relationships/notesSlide"/><Relationship Id="rId19" Target="notesSlides/notesSlide4.xml" Type="http://schemas.openxmlformats.org/officeDocument/2006/relationships/notesSlide"/><Relationship Id="rId2" Target="presProps.xml" Type="http://schemas.openxmlformats.org/officeDocument/2006/relationships/presProps"/><Relationship Id="rId20" Target="notesSlides/notesSlide5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Relationship Id="rId4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Relationship Id="rId4" Target="../media/image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538960" y="-1920240"/>
            <a:ext cx="5760720" cy="5760720"/>
            <a:chOff x="0" y="0"/>
            <a:chExt cx="7680960" cy="76809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680960" cy="7680960"/>
            </a:xfrm>
            <a:custGeom>
              <a:avLst/>
              <a:gdLst/>
              <a:ahLst/>
              <a:cxnLst/>
              <a:rect r="r" b="b" t="t" l="l"/>
              <a:pathLst>
                <a:path h="7680960" w="7680960">
                  <a:moveTo>
                    <a:pt x="0" y="3840480"/>
                  </a:moveTo>
                  <a:cubicBezTo>
                    <a:pt x="0" y="1719453"/>
                    <a:pt x="1719453" y="0"/>
                    <a:pt x="3840480" y="0"/>
                  </a:cubicBezTo>
                  <a:cubicBezTo>
                    <a:pt x="5961507" y="0"/>
                    <a:pt x="7680960" y="1719453"/>
                    <a:pt x="7680960" y="3840480"/>
                  </a:cubicBezTo>
                  <a:cubicBezTo>
                    <a:pt x="7680960" y="5961507"/>
                    <a:pt x="5961507" y="7680960"/>
                    <a:pt x="3840480" y="7680960"/>
                  </a:cubicBezTo>
                  <a:cubicBezTo>
                    <a:pt x="1719453" y="7680960"/>
                    <a:pt x="0" y="5961507"/>
                    <a:pt x="0" y="3840480"/>
                  </a:cubicBezTo>
                  <a:close/>
                </a:path>
              </a:pathLst>
            </a:custGeom>
            <a:solidFill>
              <a:srgbClr val="065A82">
                <a:alpha val="20000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322040" y="6309360"/>
            <a:ext cx="3566160" cy="3566160"/>
            <a:chOff x="0" y="0"/>
            <a:chExt cx="4754880" cy="47548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754880" cy="4754880"/>
            </a:xfrm>
            <a:custGeom>
              <a:avLst/>
              <a:gdLst/>
              <a:ahLst/>
              <a:cxnLst/>
              <a:rect r="r" b="b" t="t" l="l"/>
              <a:pathLst>
                <a:path h="4754880" w="4754880">
                  <a:moveTo>
                    <a:pt x="0" y="2377440"/>
                  </a:moveTo>
                  <a:cubicBezTo>
                    <a:pt x="0" y="1064387"/>
                    <a:pt x="1064387" y="0"/>
                    <a:pt x="2377440" y="0"/>
                  </a:cubicBezTo>
                  <a:cubicBezTo>
                    <a:pt x="3690493" y="0"/>
                    <a:pt x="4754880" y="1064387"/>
                    <a:pt x="4754880" y="2377440"/>
                  </a:cubicBezTo>
                  <a:cubicBezTo>
                    <a:pt x="4754880" y="3690493"/>
                    <a:pt x="3690493" y="4754880"/>
                    <a:pt x="2377440" y="4754880"/>
                  </a:cubicBezTo>
                  <a:cubicBezTo>
                    <a:pt x="1064387" y="4754880"/>
                    <a:pt x="0" y="3690493"/>
                    <a:pt x="0" y="2377440"/>
                  </a:cubicBezTo>
                  <a:close/>
                </a:path>
              </a:pathLst>
            </a:custGeom>
            <a:solidFill>
              <a:srgbClr val="1C7293">
                <a:alpha val="3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-1645920" y="7406640"/>
            <a:ext cx="4114800" cy="4114800"/>
            <a:chOff x="0" y="0"/>
            <a:chExt cx="5486400" cy="5486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2743200"/>
                  </a:moveTo>
                  <a:cubicBezTo>
                    <a:pt x="0" y="1228217"/>
                    <a:pt x="1228217" y="0"/>
                    <a:pt x="2743200" y="0"/>
                  </a:cubicBezTo>
                  <a:cubicBezTo>
                    <a:pt x="4258183" y="0"/>
                    <a:pt x="5486400" y="1228217"/>
                    <a:pt x="5486400" y="2743200"/>
                  </a:cubicBezTo>
                  <a:cubicBezTo>
                    <a:pt x="5486400" y="4258183"/>
                    <a:pt x="4258183" y="5486400"/>
                    <a:pt x="2743200" y="5486400"/>
                  </a:cubicBezTo>
                  <a:cubicBezTo>
                    <a:pt x="1228217" y="5486400"/>
                    <a:pt x="0" y="4258183"/>
                    <a:pt x="0" y="2743200"/>
                  </a:cubicBezTo>
                  <a:close/>
                </a:path>
              </a:pathLst>
            </a:custGeom>
            <a:solidFill>
              <a:srgbClr val="1C7293">
                <a:alpha val="15686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34440" y="1851660"/>
            <a:ext cx="13030200" cy="548640"/>
            <a:chOff x="0" y="0"/>
            <a:chExt cx="17373600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373600" cy="731520"/>
            </a:xfrm>
            <a:custGeom>
              <a:avLst/>
              <a:gdLst/>
              <a:ahLst/>
              <a:cxnLst/>
              <a:rect r="r" b="b" t="t" l="l"/>
              <a:pathLst>
                <a:path h="731520" w="17373600">
                  <a:moveTo>
                    <a:pt x="0" y="0"/>
                  </a:moveTo>
                  <a:lnTo>
                    <a:pt x="17373600" y="0"/>
                  </a:lnTo>
                  <a:lnTo>
                    <a:pt x="17373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2769" r="0" b="-412769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1737360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spc="299">
                  <a:solidFill>
                    <a:srgbClr val="9FB3C8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TUGAS KELOMPOK — MACHINE LEARNING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34440" y="2537460"/>
            <a:ext cx="14538960" cy="3154680"/>
            <a:chOff x="0" y="0"/>
            <a:chExt cx="19385280" cy="42062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385280" cy="4206240"/>
            </a:xfrm>
            <a:custGeom>
              <a:avLst/>
              <a:gdLst/>
              <a:ahLst/>
              <a:cxnLst/>
              <a:rect r="r" b="b" t="t" l="l"/>
              <a:pathLst>
                <a:path h="4206240" w="19385280">
                  <a:moveTo>
                    <a:pt x="0" y="0"/>
                  </a:moveTo>
                  <a:lnTo>
                    <a:pt x="19385280" y="0"/>
                  </a:lnTo>
                  <a:lnTo>
                    <a:pt x="19385280" y="4206240"/>
                  </a:lnTo>
                  <a:lnTo>
                    <a:pt x="0" y="4206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800" r="0" b="-3980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9525"/>
              <a:ext cx="19385280" cy="41967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999"/>
                </a:lnSpc>
              </a:pPr>
              <a:r>
                <a:rPr lang="en-US" sz="5100">
                  <a:solidFill>
                    <a:srgbClr val="FFFFFF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Analisis &amp; Implementasi Decision Tree dan Naive Bayes untuk Prediksi Kelulusan Tepat Waktu Mahasiswa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34440" y="5692140"/>
            <a:ext cx="12344400" cy="548640"/>
            <a:chOff x="0" y="0"/>
            <a:chExt cx="16459200" cy="7315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6459200" cy="731520"/>
            </a:xfrm>
            <a:custGeom>
              <a:avLst/>
              <a:gdLst/>
              <a:ahLst/>
              <a:cxnLst/>
              <a:rect r="r" b="b" t="t" l="l"/>
              <a:pathLst>
                <a:path h="73152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8413" r="0" b="-388413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1645920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CADCFC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Bagian B &amp; C — Rekomendasi &amp; Etika Penggunaan Model</a:t>
              </a:r>
            </a:p>
          </p:txBody>
        </p:sp>
      </p:grpSp>
      <p:sp>
        <p:nvSpPr>
          <p:cNvPr name="AutoShape 17" id="17"/>
          <p:cNvSpPr/>
          <p:nvPr/>
        </p:nvSpPr>
        <p:spPr>
          <a:xfrm rot="16980">
            <a:off x="1220114" y="6642735"/>
            <a:ext cx="5789362" cy="0"/>
          </a:xfrm>
          <a:prstGeom prst="line">
            <a:avLst/>
          </a:prstGeom>
          <a:ln cap="rnd" w="19050">
            <a:solidFill>
              <a:srgbClr val="1C729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8" id="18"/>
          <p:cNvGrpSpPr/>
          <p:nvPr/>
        </p:nvGrpSpPr>
        <p:grpSpPr>
          <a:xfrm rot="0">
            <a:off x="1234440" y="6666558"/>
            <a:ext cx="6626961" cy="3146679"/>
            <a:chOff x="0" y="0"/>
            <a:chExt cx="7083086" cy="336326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083086" cy="3363261"/>
            </a:xfrm>
            <a:custGeom>
              <a:avLst/>
              <a:gdLst/>
              <a:ahLst/>
              <a:cxnLst/>
              <a:rect r="r" b="b" t="t" l="l"/>
              <a:pathLst>
                <a:path h="3363261" w="7083086">
                  <a:moveTo>
                    <a:pt x="0" y="0"/>
                  </a:moveTo>
                  <a:lnTo>
                    <a:pt x="7083086" y="0"/>
                  </a:lnTo>
                  <a:lnTo>
                    <a:pt x="7083086" y="3363261"/>
                  </a:lnTo>
                  <a:lnTo>
                    <a:pt x="0" y="336326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74" r="48361" b="69293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7083086" cy="34204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69"/>
                </a:lnSpc>
              </a:pPr>
              <a:r>
                <a:rPr lang="en-US" sz="2549">
                  <a:solidFill>
                    <a:srgbClr val="CADCFC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Kelompok:</a:t>
              </a:r>
            </a:p>
            <a:p>
              <a:pPr algn="l" marL="550542" indent="-275271" lvl="1">
                <a:lnSpc>
                  <a:spcPts val="3569"/>
                </a:lnSpc>
                <a:buAutoNum type="arabicPeriod" startAt="1"/>
              </a:pPr>
              <a:r>
                <a:rPr lang="en-US" sz="2549">
                  <a:solidFill>
                    <a:srgbClr val="CADCFC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Muhammad Nathan Algibran (G1A024057)</a:t>
              </a:r>
            </a:p>
            <a:p>
              <a:pPr algn="l" marL="550542" indent="-275271" lvl="1">
                <a:lnSpc>
                  <a:spcPts val="3569"/>
                </a:lnSpc>
                <a:buAutoNum type="arabicPeriod" startAt="1"/>
              </a:pPr>
              <a:r>
                <a:rPr lang="en-US" sz="2549">
                  <a:solidFill>
                    <a:srgbClr val="CADCFC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Muhammad Abel Cakrawangsa (G1A024077)</a:t>
              </a:r>
            </a:p>
            <a:p>
              <a:pPr algn="l">
                <a:lnSpc>
                  <a:spcPts val="3569"/>
                </a:lnSpc>
              </a:pPr>
            </a:p>
            <a:p>
              <a:pPr algn="l">
                <a:lnSpc>
                  <a:spcPts val="3569"/>
                </a:lnSpc>
              </a:pPr>
              <a:r>
                <a:rPr lang="en-US" sz="2549">
                  <a:solidFill>
                    <a:srgbClr val="CADCFC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 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20150" y="9021874"/>
            <a:ext cx="7543800" cy="480060"/>
            <a:chOff x="0" y="0"/>
            <a:chExt cx="10058400" cy="6400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058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6193" r="0" b="-256193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10058400" cy="640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9FB3C8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Program Studi Informatika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220150" y="9395460"/>
            <a:ext cx="3566160" cy="480060"/>
            <a:chOff x="0" y="0"/>
            <a:chExt cx="4754880" cy="6400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754880" cy="640080"/>
            </a:xfrm>
            <a:custGeom>
              <a:avLst/>
              <a:gdLst/>
              <a:ahLst/>
              <a:cxnLst/>
              <a:rect r="r" b="b" t="t" l="l"/>
              <a:pathLst>
                <a:path h="64008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745" r="0" b="-94745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4754880" cy="640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CADCFC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Repositori Github :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7213580" y="9710928"/>
            <a:ext cx="822960" cy="438912"/>
            <a:chOff x="0" y="0"/>
            <a:chExt cx="1097280" cy="58521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97280" cy="585216"/>
            </a:xfrm>
            <a:custGeom>
              <a:avLst/>
              <a:gdLst/>
              <a:ahLst/>
              <a:cxnLst/>
              <a:rect r="r" b="b" t="t" l="l"/>
              <a:pathLst>
                <a:path h="585216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428" t="0" r="-18428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1097280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9FB3C8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01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754380"/>
            <a:ext cx="466344" cy="466344"/>
            <a:chOff x="0" y="0"/>
            <a:chExt cx="621792" cy="6217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475488" y="0"/>
                  </a:lnTo>
                  <a:cubicBezTo>
                    <a:pt x="556260" y="0"/>
                    <a:pt x="621792" y="65532"/>
                    <a:pt x="621792" y="146304"/>
                  </a:cubicBezTo>
                  <a:lnTo>
                    <a:pt x="621792" y="475488"/>
                  </a:lnTo>
                  <a:cubicBezTo>
                    <a:pt x="621792" y="556260"/>
                    <a:pt x="556260" y="621792"/>
                    <a:pt x="475488" y="621792"/>
                  </a:cubicBezTo>
                  <a:lnTo>
                    <a:pt x="146304" y="621792"/>
                  </a:lnTo>
                  <a:cubicBezTo>
                    <a:pt x="65532" y="621792"/>
                    <a:pt x="0" y="556260"/>
                    <a:pt x="0" y="475488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08760" y="685800"/>
            <a:ext cx="12344400" cy="822960"/>
            <a:chOff x="0" y="0"/>
            <a:chExt cx="16459200" cy="10972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459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6442" r="0" b="-23810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16459200" cy="1097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B2430"/>
                  </a:solidFill>
                  <a:latin typeface="Libre Baskerville Bold"/>
                  <a:ea typeface="Libre Baskerville Bold"/>
                  <a:cs typeface="Libre Baskerville Bold"/>
                  <a:sym typeface="Libre Baskerville Bold"/>
                </a:rPr>
                <a:t>Latar Belakang &amp; Dataset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22960" y="1577340"/>
            <a:ext cx="16184880" cy="548640"/>
            <a:chOff x="0" y="0"/>
            <a:chExt cx="21579840" cy="7315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579839" cy="731520"/>
            </a:xfrm>
            <a:custGeom>
              <a:avLst/>
              <a:gdLst/>
              <a:ahLst/>
              <a:cxnLst/>
              <a:rect r="r" b="b" t="t" l="l"/>
              <a:pathLst>
                <a:path h="73152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4808" r="0" b="-524808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2157984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i="true">
                  <a:solidFill>
                    <a:srgbClr val="5B6B77"/>
                  </a:solidFill>
                  <a:latin typeface="Libre Baskerville Italics"/>
                  <a:ea typeface="Libre Baskerville Italics"/>
                  <a:cs typeface="Libre Baskerville Italics"/>
                  <a:sym typeface="Libre Baskerville Italics"/>
                </a:rPr>
                <a:t>Prediksi status kelulusan tepat waktu mahasiswa dari data akademik &amp; aktivitas belajar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822960" y="2400300"/>
            <a:ext cx="8366760" cy="5162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65A82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Fitur dataset</a:t>
            </a:r>
          </a:p>
          <a:p>
            <a:pPr algn="l">
              <a:lnSpc>
                <a:spcPts val="2340"/>
              </a:lnSpc>
            </a:pPr>
          </a:p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1B243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IPK, Kehadiran, Nilai_Tugas, Partisipasi_Diskusi, Aktivitas_ELearning, Penghasilan_Ortu, dan Jenis_Kelamin — target: Status_Akademik (Lulus tepat waktu / Tidak).</a:t>
            </a:r>
          </a:p>
          <a:p>
            <a:pPr algn="l">
              <a:lnSpc>
                <a:spcPts val="2340"/>
              </a:lnSpc>
            </a:pPr>
          </a:p>
          <a:p>
            <a:pPr algn="l">
              <a:lnSpc>
                <a:spcPts val="2340"/>
              </a:lnSpc>
            </a:pPr>
          </a:p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65A82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Praproses</a:t>
            </a:r>
          </a:p>
          <a:p>
            <a:pPr algn="l">
              <a:lnSpc>
                <a:spcPts val="2340"/>
              </a:lnSpc>
            </a:pPr>
          </a:p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1B243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Pembersihan data, encoding fitur kategorikal, lalu split 80:20 menjadi data latih dan data uji.</a:t>
            </a:r>
          </a:p>
          <a:p>
            <a:pPr algn="l">
              <a:lnSpc>
                <a:spcPts val="2340"/>
              </a:lnSpc>
            </a:pPr>
          </a:p>
          <a:p>
            <a:pPr algn="l">
              <a:lnSpc>
                <a:spcPts val="2340"/>
              </a:lnSpc>
            </a:pPr>
          </a:p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65A82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Model yang dibandingkan</a:t>
            </a:r>
          </a:p>
          <a:p>
            <a:pPr algn="l">
              <a:lnSpc>
                <a:spcPts val="2340"/>
              </a:lnSpc>
            </a:pPr>
          </a:p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1B243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Decision Tree (max_depth=3), Decision Tree (tanpa batas kedalaman), dan Gaussian Naive Bayes.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806940" y="2606040"/>
            <a:ext cx="7132320" cy="1577340"/>
            <a:chOff x="0" y="0"/>
            <a:chExt cx="9509760" cy="21031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509760" cy="2103120"/>
            </a:xfrm>
            <a:custGeom>
              <a:avLst/>
              <a:gdLst/>
              <a:ahLst/>
              <a:cxnLst/>
              <a:rect r="r" b="b" t="t" l="l"/>
              <a:pathLst>
                <a:path h="2103120" w="950976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9326880" y="0"/>
                  </a:lnTo>
                  <a:cubicBezTo>
                    <a:pt x="9427845" y="0"/>
                    <a:pt x="9509760" y="81915"/>
                    <a:pt x="9509760" y="182880"/>
                  </a:cubicBezTo>
                  <a:lnTo>
                    <a:pt x="9509760" y="1920240"/>
                  </a:lnTo>
                  <a:cubicBezTo>
                    <a:pt x="9509760" y="2021205"/>
                    <a:pt x="9427845" y="2103120"/>
                    <a:pt x="9326880" y="2103120"/>
                  </a:cubicBezTo>
                  <a:lnTo>
                    <a:pt x="182880" y="2103120"/>
                  </a:lnTo>
                  <a:cubicBezTo>
                    <a:pt x="81915" y="2103120"/>
                    <a:pt x="0" y="2021205"/>
                    <a:pt x="0" y="1920240"/>
                  </a:cubicBezTo>
                  <a:close/>
                </a:path>
              </a:pathLst>
            </a:custGeom>
            <a:solidFill>
              <a:srgbClr val="EAF2F6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0149840" y="2770632"/>
            <a:ext cx="2468880" cy="1234440"/>
            <a:chOff x="0" y="0"/>
            <a:chExt cx="3291840" cy="16459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291840" cy="1645920"/>
            </a:xfrm>
            <a:custGeom>
              <a:avLst/>
              <a:gdLst/>
              <a:ahLst/>
              <a:cxnLst/>
              <a:rect r="r" b="b" t="t" l="l"/>
              <a:pathLst>
                <a:path h="164592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329184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439"/>
                </a:lnSpc>
              </a:pPr>
              <a:r>
                <a:rPr lang="en-US" sz="3699" b="true">
                  <a:solidFill>
                    <a:srgbClr val="065A82"/>
                  </a:solidFill>
                  <a:latin typeface="Libre Baskerville Bold"/>
                  <a:ea typeface="Libre Baskerville Bold"/>
                  <a:cs typeface="Libre Baskerville Bold"/>
                  <a:sym typeface="Libre Baskerville Bold"/>
                </a:rPr>
                <a:t>500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550140" y="2770632"/>
            <a:ext cx="4114800" cy="1234440"/>
            <a:chOff x="0" y="0"/>
            <a:chExt cx="5486400" cy="16459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486400" cy="1645920"/>
            </a:xfrm>
            <a:custGeom>
              <a:avLst/>
              <a:gdLst/>
              <a:ahLst/>
              <a:cxnLst/>
              <a:rect r="r" b="b" t="t" l="l"/>
              <a:pathLst>
                <a:path h="164592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9525"/>
              <a:ext cx="5486400" cy="16363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1B2430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data mahasiswa (400 latih · 100 uji)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806940" y="4457700"/>
            <a:ext cx="7132320" cy="1577340"/>
            <a:chOff x="0" y="0"/>
            <a:chExt cx="9509760" cy="21031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509760" cy="2103120"/>
            </a:xfrm>
            <a:custGeom>
              <a:avLst/>
              <a:gdLst/>
              <a:ahLst/>
              <a:cxnLst/>
              <a:rect r="r" b="b" t="t" l="l"/>
              <a:pathLst>
                <a:path h="2103120" w="950976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9326880" y="0"/>
                  </a:lnTo>
                  <a:cubicBezTo>
                    <a:pt x="9427845" y="0"/>
                    <a:pt x="9509760" y="81915"/>
                    <a:pt x="9509760" y="182880"/>
                  </a:cubicBezTo>
                  <a:lnTo>
                    <a:pt x="9509760" y="1920240"/>
                  </a:lnTo>
                  <a:cubicBezTo>
                    <a:pt x="9509760" y="2021205"/>
                    <a:pt x="9427845" y="2103120"/>
                    <a:pt x="9326880" y="2103120"/>
                  </a:cubicBezTo>
                  <a:lnTo>
                    <a:pt x="182880" y="2103120"/>
                  </a:lnTo>
                  <a:cubicBezTo>
                    <a:pt x="81915" y="2103120"/>
                    <a:pt x="0" y="2021205"/>
                    <a:pt x="0" y="1920240"/>
                  </a:cubicBezTo>
                  <a:close/>
                </a:path>
              </a:pathLst>
            </a:custGeom>
            <a:solidFill>
              <a:srgbClr val="EAF2F6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9955377" y="4659630"/>
            <a:ext cx="2857805" cy="1234440"/>
            <a:chOff x="0" y="0"/>
            <a:chExt cx="3810407" cy="16459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810407" cy="1645920"/>
            </a:xfrm>
            <a:custGeom>
              <a:avLst/>
              <a:gdLst/>
              <a:ahLst/>
              <a:cxnLst/>
              <a:rect r="r" b="b" t="t" l="l"/>
              <a:pathLst>
                <a:path h="1645920" w="3810407">
                  <a:moveTo>
                    <a:pt x="0" y="0"/>
                  </a:moveTo>
                  <a:lnTo>
                    <a:pt x="3810407" y="0"/>
                  </a:lnTo>
                  <a:lnTo>
                    <a:pt x="3810407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2225" t="0" r="1383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"/>
              <a:ext cx="3810407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439"/>
                </a:lnSpc>
              </a:pPr>
              <a:r>
                <a:rPr lang="en-US" sz="3699" b="true">
                  <a:solidFill>
                    <a:srgbClr val="065A82"/>
                  </a:solidFill>
                  <a:latin typeface="Libre Baskerville Bold"/>
                  <a:ea typeface="Libre Baskerville Bold"/>
                  <a:cs typeface="Libre Baskerville Bold"/>
                  <a:sym typeface="Libre Baskerville Bold"/>
                </a:rPr>
                <a:t>54% / 46%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2550140" y="4622292"/>
            <a:ext cx="4114800" cy="1234440"/>
            <a:chOff x="0" y="0"/>
            <a:chExt cx="5486400" cy="16459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486400" cy="1645920"/>
            </a:xfrm>
            <a:custGeom>
              <a:avLst/>
              <a:gdLst/>
              <a:ahLst/>
              <a:cxnLst/>
              <a:rect r="r" b="b" t="t" l="l"/>
              <a:pathLst>
                <a:path h="164592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9525"/>
              <a:ext cx="5486400" cy="16363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1B2430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sebaran kelas Lulus vs Tidak — relatif seimbang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806940" y="6309360"/>
            <a:ext cx="7132320" cy="1577340"/>
            <a:chOff x="0" y="0"/>
            <a:chExt cx="9509760" cy="21031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509760" cy="2103120"/>
            </a:xfrm>
            <a:custGeom>
              <a:avLst/>
              <a:gdLst/>
              <a:ahLst/>
              <a:cxnLst/>
              <a:rect r="r" b="b" t="t" l="l"/>
              <a:pathLst>
                <a:path h="2103120" w="950976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9326880" y="0"/>
                  </a:lnTo>
                  <a:cubicBezTo>
                    <a:pt x="9427845" y="0"/>
                    <a:pt x="9509760" y="81915"/>
                    <a:pt x="9509760" y="182880"/>
                  </a:cubicBezTo>
                  <a:lnTo>
                    <a:pt x="9509760" y="1920240"/>
                  </a:lnTo>
                  <a:cubicBezTo>
                    <a:pt x="9509760" y="2021205"/>
                    <a:pt x="9427845" y="2103120"/>
                    <a:pt x="9326880" y="2103120"/>
                  </a:cubicBezTo>
                  <a:lnTo>
                    <a:pt x="182880" y="2103120"/>
                  </a:lnTo>
                  <a:cubicBezTo>
                    <a:pt x="81915" y="2103120"/>
                    <a:pt x="0" y="2021205"/>
                    <a:pt x="0" y="1920240"/>
                  </a:cubicBezTo>
                  <a:close/>
                </a:path>
              </a:pathLst>
            </a:custGeom>
            <a:solidFill>
              <a:srgbClr val="EAF2F6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0149840" y="6473952"/>
            <a:ext cx="2468880" cy="1234440"/>
            <a:chOff x="0" y="0"/>
            <a:chExt cx="3291840" cy="16459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291840" cy="1645920"/>
            </a:xfrm>
            <a:custGeom>
              <a:avLst/>
              <a:gdLst/>
              <a:ahLst/>
              <a:cxnLst/>
              <a:rect r="r" b="b" t="t" l="l"/>
              <a:pathLst>
                <a:path h="164592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"/>
              <a:ext cx="329184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439"/>
                </a:lnSpc>
              </a:pPr>
              <a:r>
                <a:rPr lang="en-US" sz="3699" b="true">
                  <a:solidFill>
                    <a:srgbClr val="065A82"/>
                  </a:solidFill>
                  <a:latin typeface="Libre Baskerville Bold"/>
                  <a:ea typeface="Libre Baskerville Bold"/>
                  <a:cs typeface="Libre Baskerville Bold"/>
                  <a:sym typeface="Libre Baskerville Bold"/>
                </a:rPr>
                <a:t>7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2550140" y="6473952"/>
            <a:ext cx="4114800" cy="1234440"/>
            <a:chOff x="0" y="0"/>
            <a:chExt cx="5486400" cy="16459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486400" cy="1645920"/>
            </a:xfrm>
            <a:custGeom>
              <a:avLst/>
              <a:gdLst/>
              <a:ahLst/>
              <a:cxnLst/>
              <a:rect r="r" b="b" t="t" l="l"/>
              <a:pathLst>
                <a:path h="164592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9525"/>
              <a:ext cx="5486400" cy="16363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1B2430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fitur akademik &amp; sosio-demografis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806940" y="8229600"/>
            <a:ext cx="7132320" cy="1577340"/>
            <a:chOff x="0" y="0"/>
            <a:chExt cx="9509760" cy="21031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509760" cy="2103120"/>
            </a:xfrm>
            <a:custGeom>
              <a:avLst/>
              <a:gdLst/>
              <a:ahLst/>
              <a:cxnLst/>
              <a:rect r="r" b="b" t="t" l="l"/>
              <a:pathLst>
                <a:path h="2103120" w="950976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9326880" y="0"/>
                  </a:lnTo>
                  <a:cubicBezTo>
                    <a:pt x="9427845" y="0"/>
                    <a:pt x="9509760" y="81915"/>
                    <a:pt x="9509760" y="182880"/>
                  </a:cubicBezTo>
                  <a:lnTo>
                    <a:pt x="9509760" y="1920240"/>
                  </a:lnTo>
                  <a:cubicBezTo>
                    <a:pt x="9509760" y="2021205"/>
                    <a:pt x="9427845" y="2103120"/>
                    <a:pt x="9326880" y="2103120"/>
                  </a:cubicBezTo>
                  <a:lnTo>
                    <a:pt x="182880" y="2103120"/>
                  </a:lnTo>
                  <a:cubicBezTo>
                    <a:pt x="81915" y="2103120"/>
                    <a:pt x="0" y="2021205"/>
                    <a:pt x="0" y="1920240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0149840" y="8394192"/>
            <a:ext cx="6446520" cy="1303020"/>
            <a:chOff x="0" y="0"/>
            <a:chExt cx="8595360" cy="173736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595360" cy="1737360"/>
            </a:xfrm>
            <a:custGeom>
              <a:avLst/>
              <a:gdLst/>
              <a:ahLst/>
              <a:cxnLst/>
              <a:rect r="r" b="b" t="t" l="l"/>
              <a:pathLst>
                <a:path h="1737360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399" r="0" b="-46399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0"/>
              <a:ext cx="8595360" cy="17373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i="true">
                  <a:solidFill>
                    <a:srgbClr val="FFFFFF"/>
                  </a:solidFill>
                  <a:latin typeface="Libre Baskerville Italics"/>
                  <a:ea typeface="Libre Baskerville Italics"/>
                  <a:cs typeface="Libre Baskerville Italics"/>
                  <a:sym typeface="Libre Baskerville Italics"/>
                </a:rPr>
                <a:t>Karena kelas relatif seimbang, akurasi cukup representatif — berbeda dari kasus dataset timpang yang butuh metrik tambahan.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7213580" y="9710928"/>
            <a:ext cx="822960" cy="438912"/>
            <a:chOff x="0" y="0"/>
            <a:chExt cx="1097280" cy="58521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97280" cy="585216"/>
            </a:xfrm>
            <a:custGeom>
              <a:avLst/>
              <a:gdLst/>
              <a:ahLst/>
              <a:cxnLst/>
              <a:rect r="r" b="b" t="t" l="l"/>
              <a:pathLst>
                <a:path h="585216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428" t="0" r="-18428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0"/>
              <a:ext cx="1097280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9AA7B0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02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754380"/>
            <a:ext cx="466344" cy="466344"/>
            <a:chOff x="0" y="0"/>
            <a:chExt cx="621792" cy="6217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475488" y="0"/>
                  </a:lnTo>
                  <a:cubicBezTo>
                    <a:pt x="556260" y="0"/>
                    <a:pt x="621792" y="65532"/>
                    <a:pt x="621792" y="146304"/>
                  </a:cubicBezTo>
                  <a:lnTo>
                    <a:pt x="621792" y="475488"/>
                  </a:lnTo>
                  <a:cubicBezTo>
                    <a:pt x="621792" y="556260"/>
                    <a:pt x="556260" y="621792"/>
                    <a:pt x="475488" y="621792"/>
                  </a:cubicBezTo>
                  <a:lnTo>
                    <a:pt x="146304" y="621792"/>
                  </a:lnTo>
                  <a:cubicBezTo>
                    <a:pt x="65532" y="621792"/>
                    <a:pt x="0" y="556260"/>
                    <a:pt x="0" y="475488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08760" y="685800"/>
            <a:ext cx="12344400" cy="822960"/>
            <a:chOff x="0" y="0"/>
            <a:chExt cx="16459200" cy="10972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459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6442" r="0" b="-23810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16459200" cy="1097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B2430"/>
                  </a:solidFill>
                  <a:latin typeface="Libre Baskerville Bold"/>
                  <a:ea typeface="Libre Baskerville Bold"/>
                  <a:cs typeface="Libre Baskerville Bold"/>
                  <a:sym typeface="Libre Baskerville Bold"/>
                </a:rPr>
                <a:t>Hasil Evaluasi 3 Model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289304" y="1520862"/>
            <a:ext cx="9000943" cy="5143784"/>
            <a:chOff x="0" y="0"/>
            <a:chExt cx="13215701" cy="755239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215700" cy="7552399"/>
            </a:xfrm>
            <a:custGeom>
              <a:avLst/>
              <a:gdLst/>
              <a:ahLst/>
              <a:cxnLst/>
              <a:rect r="r" b="b" t="t" l="l"/>
              <a:pathLst>
                <a:path h="7552399" w="13215700">
                  <a:moveTo>
                    <a:pt x="0" y="138933"/>
                  </a:moveTo>
                  <a:cubicBezTo>
                    <a:pt x="0" y="62135"/>
                    <a:pt x="68627" y="0"/>
                    <a:pt x="153449" y="0"/>
                  </a:cubicBezTo>
                  <a:lnTo>
                    <a:pt x="13062252" y="0"/>
                  </a:lnTo>
                  <a:cubicBezTo>
                    <a:pt x="13146940" y="0"/>
                    <a:pt x="13215700" y="62135"/>
                    <a:pt x="13215700" y="138933"/>
                  </a:cubicBezTo>
                  <a:lnTo>
                    <a:pt x="13215700" y="7413465"/>
                  </a:lnTo>
                  <a:cubicBezTo>
                    <a:pt x="13215700" y="7490143"/>
                    <a:pt x="13147073" y="7552399"/>
                    <a:pt x="13062252" y="7552399"/>
                  </a:cubicBezTo>
                  <a:lnTo>
                    <a:pt x="153449" y="7552399"/>
                  </a:lnTo>
                  <a:cubicBezTo>
                    <a:pt x="68627" y="7552399"/>
                    <a:pt x="0" y="7490262"/>
                    <a:pt x="0" y="7413465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6ED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508760" y="1645920"/>
            <a:ext cx="8309763" cy="4869180"/>
            <a:chOff x="0" y="0"/>
            <a:chExt cx="12359309" cy="7242048"/>
          </a:xfrm>
        </p:grpSpPr>
        <p:sp>
          <p:nvSpPr>
            <p:cNvPr name="Freeform 10" id="10" descr="perbandingan_metrik.png"/>
            <p:cNvSpPr/>
            <p:nvPr/>
          </p:nvSpPr>
          <p:spPr>
            <a:xfrm flipH="false" flipV="false" rot="0">
              <a:off x="0" y="0"/>
              <a:ext cx="12359309" cy="7242048"/>
            </a:xfrm>
            <a:custGeom>
              <a:avLst/>
              <a:gdLst/>
              <a:ahLst/>
              <a:cxnLst/>
              <a:rect r="r" b="b" t="t" l="l"/>
              <a:pathLst>
                <a:path h="7242048" w="12359309">
                  <a:moveTo>
                    <a:pt x="0" y="0"/>
                  </a:moveTo>
                  <a:lnTo>
                    <a:pt x="12359309" y="0"/>
                  </a:lnTo>
                  <a:lnTo>
                    <a:pt x="12359309" y="7242048"/>
                  </a:lnTo>
                  <a:lnTo>
                    <a:pt x="0" y="72420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198" r="0" b="-1198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0629900" y="1714500"/>
            <a:ext cx="6720840" cy="480060"/>
            <a:chOff x="0" y="0"/>
            <a:chExt cx="8961120" cy="6400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961120" cy="640080"/>
            </a:xfrm>
            <a:custGeom>
              <a:avLst/>
              <a:gdLst/>
              <a:ahLst/>
              <a:cxnLst/>
              <a:rect r="r" b="b" t="t" l="l"/>
              <a:pathLst>
                <a:path h="640080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790" r="0" b="-22279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8961120" cy="640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065A82"/>
                  </a:solidFill>
                  <a:latin typeface="Libre Baskerville Bold"/>
                  <a:ea typeface="Libre Baskerville Bold"/>
                  <a:cs typeface="Libre Baskerville Bold"/>
                  <a:sym typeface="Libre Baskerville Bold"/>
                </a:rPr>
                <a:t>Akurasi · Precision · Recall · F1</a:t>
              </a:r>
            </a:p>
          </p:txBody>
        </p:sp>
      </p:grpSp>
      <p:graphicFrame>
        <p:nvGraphicFramePr>
          <p:cNvPr name="Table 14" id="14"/>
          <p:cNvGraphicFramePr>
            <a:graphicFrameLocks noGrp="true"/>
          </p:cNvGraphicFramePr>
          <p:nvPr/>
        </p:nvGraphicFramePr>
        <p:xfrm>
          <a:off x="10629900" y="2263140"/>
          <a:ext cx="6705600" cy="2286000"/>
        </p:xfrm>
        <a:graphic>
          <a:graphicData uri="http://schemas.openxmlformats.org/drawingml/2006/table">
            <a:tbl>
              <a:tblPr/>
              <a:tblGrid>
                <a:gridCol w="3411224"/>
                <a:gridCol w="1647188"/>
                <a:gridCol w="1647188"/>
              </a:tblGrid>
              <a:tr h="5715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 b="true">
                          <a:solidFill>
                            <a:srgbClr val="FFFFFF"/>
                          </a:solidFill>
                          <a:latin typeface="Libre Baskerville Bold"/>
                          <a:ea typeface="Libre Baskerville Bold"/>
                          <a:cs typeface="Libre Baskerville Bold"/>
                          <a:sym typeface="Libre Baskerville Bold"/>
                        </a:rPr>
                        <a:t>Model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50"/>
                        </a:lnSpc>
                        <a:defRPr/>
                      </a:pPr>
                      <a:r>
                        <a:rPr lang="en-US" sz="1875" b="true">
                          <a:solidFill>
                            <a:srgbClr val="FFFFFF"/>
                          </a:solidFill>
                          <a:latin typeface="Libre Baskerville Bold"/>
                          <a:ea typeface="Libre Baskerville Bold"/>
                          <a:cs typeface="Libre Baskerville Bold"/>
                          <a:sym typeface="Libre Baskerville Bold"/>
                        </a:rPr>
                        <a:t>Akurasi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50"/>
                        </a:lnSpc>
                        <a:defRPr/>
                      </a:pPr>
                      <a:r>
                        <a:rPr lang="en-US" sz="1875" b="true">
                          <a:solidFill>
                            <a:srgbClr val="FFFFFF"/>
                          </a:solidFill>
                          <a:latin typeface="Libre Baskerville Bold"/>
                          <a:ea typeface="Libre Baskerville Bold"/>
                          <a:cs typeface="Libre Baskerville Bold"/>
                          <a:sym typeface="Libre Baskerville Bold"/>
                        </a:rPr>
                        <a:t>F1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5715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 b="true">
                          <a:solidFill>
                            <a:srgbClr val="1B2430"/>
                          </a:solidFill>
                          <a:latin typeface="Libre Baskerville Bold"/>
                          <a:ea typeface="Libre Baskerville Bold"/>
                          <a:cs typeface="Libre Baskerville Bold"/>
                          <a:sym typeface="Libre Baskerville Bold"/>
                        </a:rPr>
                        <a:t>DT (depth=3)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1B2430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0.70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1B2430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0.68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 b="true">
                          <a:solidFill>
                            <a:srgbClr val="1B2430"/>
                          </a:solidFill>
                          <a:latin typeface="Libre Baskerville Bold"/>
                          <a:ea typeface="Libre Baskerville Bold"/>
                          <a:cs typeface="Libre Baskerville Bold"/>
                          <a:sym typeface="Libre Baskerville Bold"/>
                        </a:rPr>
                        <a:t>DT (depth=None)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1B2430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0.71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1B2430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0.69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</a:tr>
              <a:tr h="5715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 b="true">
                          <a:solidFill>
                            <a:srgbClr val="FFFFFF"/>
                          </a:solidFill>
                          <a:latin typeface="Libre Baskerville Bold"/>
                          <a:ea typeface="Libre Baskerville Bold"/>
                          <a:cs typeface="Libre Baskerville Bold"/>
                          <a:sym typeface="Libre Baskerville Bold"/>
                        </a:rPr>
                        <a:t>Gaussian NB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FFFFFF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0.75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FFFFFF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0.73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</a:tbl>
          </a:graphicData>
        </a:graphic>
      </p:graphicFrame>
      <p:sp>
        <p:nvSpPr>
          <p:cNvPr name="TextBox 15" id="15"/>
          <p:cNvSpPr txBox="true"/>
          <p:nvPr/>
        </p:nvSpPr>
        <p:spPr>
          <a:xfrm rot="0">
            <a:off x="10629900" y="4878705"/>
            <a:ext cx="6720840" cy="1419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 b="true">
                <a:solidFill>
                  <a:srgbClr val="065A82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Gaussian Naive Bayes tampil terbaik di semua metrik</a:t>
            </a:r>
          </a:p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1B243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(akurasi 75%, F1 0.73), diikuti Decision Tree tanpa batas kedalaman. Decision Tree (depth=3) sedikit lebih rendah namun paling mudah dijelaskan (interpretable).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3289940" y="6988496"/>
            <a:ext cx="11708121" cy="2830449"/>
            <a:chOff x="0" y="0"/>
            <a:chExt cx="15515420" cy="375086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5515420" cy="3750867"/>
            </a:xfrm>
            <a:custGeom>
              <a:avLst/>
              <a:gdLst/>
              <a:ahLst/>
              <a:cxnLst/>
              <a:rect r="r" b="b" t="t" l="l"/>
              <a:pathLst>
                <a:path h="3750867" w="15515420">
                  <a:moveTo>
                    <a:pt x="0" y="206944"/>
                  </a:moveTo>
                  <a:cubicBezTo>
                    <a:pt x="0" y="92694"/>
                    <a:pt x="46139" y="0"/>
                    <a:pt x="103007" y="0"/>
                  </a:cubicBezTo>
                  <a:lnTo>
                    <a:pt x="15412413" y="0"/>
                  </a:lnTo>
                  <a:cubicBezTo>
                    <a:pt x="15469282" y="0"/>
                    <a:pt x="15515420" y="92694"/>
                    <a:pt x="15515420" y="206944"/>
                  </a:cubicBezTo>
                  <a:lnTo>
                    <a:pt x="15515420" y="3543922"/>
                  </a:lnTo>
                  <a:cubicBezTo>
                    <a:pt x="15515420" y="3658173"/>
                    <a:pt x="15469282" y="3750867"/>
                    <a:pt x="15412413" y="3750867"/>
                  </a:cubicBezTo>
                  <a:lnTo>
                    <a:pt x="103007" y="3750867"/>
                  </a:lnTo>
                  <a:cubicBezTo>
                    <a:pt x="46139" y="3750867"/>
                    <a:pt x="0" y="3658173"/>
                    <a:pt x="0" y="3543922"/>
                  </a:cubicBezTo>
                  <a:close/>
                </a:path>
              </a:pathLst>
            </a:custGeom>
            <a:solidFill>
              <a:srgbClr val="EAF2F6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3548114" y="6791325"/>
            <a:ext cx="11191772" cy="3321842"/>
            <a:chOff x="0" y="0"/>
            <a:chExt cx="21086002" cy="6258560"/>
          </a:xfrm>
        </p:grpSpPr>
        <p:sp>
          <p:nvSpPr>
            <p:cNvPr name="Freeform 19" id="19" descr="confusion_matrices.png"/>
            <p:cNvSpPr/>
            <p:nvPr/>
          </p:nvSpPr>
          <p:spPr>
            <a:xfrm flipH="false" flipV="false" rot="0">
              <a:off x="0" y="0"/>
              <a:ext cx="21086001" cy="6258560"/>
            </a:xfrm>
            <a:custGeom>
              <a:avLst/>
              <a:gdLst/>
              <a:ahLst/>
              <a:cxnLst/>
              <a:rect r="r" b="b" t="t" l="l"/>
              <a:pathLst>
                <a:path h="6258560" w="21086001">
                  <a:moveTo>
                    <a:pt x="0" y="0"/>
                  </a:moveTo>
                  <a:lnTo>
                    <a:pt x="21086001" y="0"/>
                  </a:lnTo>
                  <a:lnTo>
                    <a:pt x="21086001" y="6258560"/>
                  </a:lnTo>
                  <a:lnTo>
                    <a:pt x="0" y="62585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537" r="0" b="-537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7213580" y="9710928"/>
            <a:ext cx="822960" cy="438912"/>
            <a:chOff x="0" y="0"/>
            <a:chExt cx="1097280" cy="58521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97280" cy="585216"/>
            </a:xfrm>
            <a:custGeom>
              <a:avLst/>
              <a:gdLst/>
              <a:ahLst/>
              <a:cxnLst/>
              <a:rect r="r" b="b" t="t" l="l"/>
              <a:pathLst>
                <a:path h="585216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428" t="0" r="-18428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1097280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9AA7B0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03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754380"/>
            <a:ext cx="466344" cy="466344"/>
            <a:chOff x="0" y="0"/>
            <a:chExt cx="621792" cy="6217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475488" y="0"/>
                  </a:lnTo>
                  <a:cubicBezTo>
                    <a:pt x="556260" y="0"/>
                    <a:pt x="621792" y="65532"/>
                    <a:pt x="621792" y="146304"/>
                  </a:cubicBezTo>
                  <a:lnTo>
                    <a:pt x="621792" y="475488"/>
                  </a:lnTo>
                  <a:cubicBezTo>
                    <a:pt x="621792" y="556260"/>
                    <a:pt x="556260" y="621792"/>
                    <a:pt x="475488" y="621792"/>
                  </a:cubicBezTo>
                  <a:lnTo>
                    <a:pt x="146304" y="621792"/>
                  </a:lnTo>
                  <a:cubicBezTo>
                    <a:pt x="65532" y="621792"/>
                    <a:pt x="0" y="556260"/>
                    <a:pt x="0" y="475488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08760" y="685800"/>
            <a:ext cx="14401800" cy="766191"/>
            <a:chOff x="0" y="0"/>
            <a:chExt cx="19202400" cy="102158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202400" cy="1021588"/>
            </a:xfrm>
            <a:custGeom>
              <a:avLst/>
              <a:gdLst/>
              <a:ahLst/>
              <a:cxnLst/>
              <a:rect r="r" b="b" t="t" l="l"/>
              <a:pathLst>
                <a:path h="1021588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021588"/>
                  </a:lnTo>
                  <a:lnTo>
                    <a:pt x="0" y="10215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7023" r="0" b="-31548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19202400" cy="10215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1B2430"/>
                  </a:solidFill>
                  <a:latin typeface="Libre Baskerville Bold"/>
                  <a:ea typeface="Libre Baskerville Bold"/>
                  <a:cs typeface="Libre Baskerville Bold"/>
                  <a:sym typeface="Libre Baskerville Bold"/>
                </a:rPr>
                <a:t>Struktur Decision Tree &amp; Fitur Penentu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488809" y="1704975"/>
            <a:ext cx="11453636" cy="7289390"/>
            <a:chOff x="0" y="0"/>
            <a:chExt cx="14838680" cy="94437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838680" cy="9443720"/>
            </a:xfrm>
            <a:custGeom>
              <a:avLst/>
              <a:gdLst/>
              <a:ahLst/>
              <a:cxnLst/>
              <a:rect r="r" b="b" t="t" l="l"/>
              <a:pathLst>
                <a:path h="9443720" w="14838680">
                  <a:moveTo>
                    <a:pt x="0" y="146685"/>
                  </a:moveTo>
                  <a:cubicBezTo>
                    <a:pt x="0" y="65659"/>
                    <a:pt x="65659" y="0"/>
                    <a:pt x="146685" y="0"/>
                  </a:cubicBezTo>
                  <a:lnTo>
                    <a:pt x="14691996" y="0"/>
                  </a:lnTo>
                  <a:cubicBezTo>
                    <a:pt x="14773022" y="0"/>
                    <a:pt x="14838680" y="65659"/>
                    <a:pt x="14838680" y="146685"/>
                  </a:cubicBezTo>
                  <a:lnTo>
                    <a:pt x="14838680" y="9297035"/>
                  </a:lnTo>
                  <a:cubicBezTo>
                    <a:pt x="14838680" y="9378061"/>
                    <a:pt x="14773022" y="9443720"/>
                    <a:pt x="14691996" y="9443720"/>
                  </a:cubicBezTo>
                  <a:lnTo>
                    <a:pt x="146685" y="9443720"/>
                  </a:lnTo>
                  <a:cubicBezTo>
                    <a:pt x="65659" y="9443720"/>
                    <a:pt x="0" y="9378061"/>
                    <a:pt x="0" y="9297035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6ED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647553" y="1920240"/>
            <a:ext cx="11079627" cy="5539813"/>
            <a:chOff x="0" y="0"/>
            <a:chExt cx="14264640" cy="7132320"/>
          </a:xfrm>
        </p:grpSpPr>
        <p:sp>
          <p:nvSpPr>
            <p:cNvPr name="Freeform 10" id="10" descr="decision_tree_depth3.png"/>
            <p:cNvSpPr/>
            <p:nvPr/>
          </p:nvSpPr>
          <p:spPr>
            <a:xfrm flipH="false" flipV="false" rot="0">
              <a:off x="0" y="0"/>
              <a:ext cx="14264639" cy="7132320"/>
            </a:xfrm>
            <a:custGeom>
              <a:avLst/>
              <a:gdLst/>
              <a:ahLst/>
              <a:cxnLst/>
              <a:rect r="r" b="b" t="t" l="l"/>
              <a:pathLst>
                <a:path h="7132320" w="14264639">
                  <a:moveTo>
                    <a:pt x="0" y="0"/>
                  </a:moveTo>
                  <a:lnTo>
                    <a:pt x="14264639" y="0"/>
                  </a:lnTo>
                  <a:lnTo>
                    <a:pt x="14264639" y="7132320"/>
                  </a:lnTo>
                  <a:lnTo>
                    <a:pt x="0" y="7132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028700" y="7629754"/>
            <a:ext cx="10698480" cy="480060"/>
            <a:chOff x="0" y="0"/>
            <a:chExt cx="14264640" cy="6400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264639" cy="640080"/>
            </a:xfrm>
            <a:custGeom>
              <a:avLst/>
              <a:gdLst/>
              <a:ahLst/>
              <a:cxnLst/>
              <a:rect r="r" b="b" t="t" l="l"/>
              <a:pathLst>
                <a:path h="640080" w="14264639">
                  <a:moveTo>
                    <a:pt x="0" y="0"/>
                  </a:moveTo>
                  <a:lnTo>
                    <a:pt x="14264639" y="0"/>
                  </a:lnTo>
                  <a:lnTo>
                    <a:pt x="14264639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4237" r="0" b="-384237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14264640" cy="640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 i="true">
                  <a:solidFill>
                    <a:srgbClr val="5B6B77"/>
                  </a:solidFill>
                  <a:latin typeface="Libre Baskerville Italics"/>
                  <a:ea typeface="Libre Baskerville Italics"/>
                  <a:cs typeface="Libre Baskerville Italics"/>
                  <a:sym typeface="Libre Baskerville Italics"/>
                </a:rPr>
                <a:t>Decision Tree (max_depth=3) — akar pemisah: IPK ≤ 2.475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1942445" y="2562515"/>
            <a:ext cx="6201577" cy="594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6"/>
              </a:lnSpc>
            </a:pPr>
            <a:r>
              <a:rPr lang="en-US" sz="2646" b="true">
                <a:solidFill>
                  <a:srgbClr val="065A82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Pola pemisah</a:t>
            </a:r>
          </a:p>
          <a:p>
            <a:pPr algn="l">
              <a:lnSpc>
                <a:spcPts val="2722"/>
              </a:lnSpc>
            </a:pPr>
          </a:p>
          <a:p>
            <a:pPr algn="l">
              <a:lnSpc>
                <a:spcPts val="2722"/>
              </a:lnSpc>
            </a:pPr>
            <a:r>
              <a:rPr lang="en-US" sz="2268">
                <a:solidFill>
                  <a:srgbClr val="1B243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IPK jadi pemisah pertama, diikuti Nilai_Tugas, lalu Kehadiran, Partisipasi_Diskusi, dan Aktivitas_ELearning — semuanya fitur akademik/aktivitas belajar.</a:t>
            </a:r>
          </a:p>
          <a:p>
            <a:pPr algn="l">
              <a:lnSpc>
                <a:spcPts val="2722"/>
              </a:lnSpc>
            </a:pPr>
          </a:p>
          <a:p>
            <a:pPr algn="l">
              <a:lnSpc>
                <a:spcPts val="2722"/>
              </a:lnSpc>
            </a:pPr>
          </a:p>
          <a:p>
            <a:pPr algn="l">
              <a:lnSpc>
                <a:spcPts val="3176"/>
              </a:lnSpc>
            </a:pPr>
            <a:r>
              <a:rPr lang="en-US" sz="2646" b="true">
                <a:solidFill>
                  <a:srgbClr val="B85042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Catatan fairness</a:t>
            </a:r>
          </a:p>
          <a:p>
            <a:pPr algn="l">
              <a:lnSpc>
                <a:spcPts val="2722"/>
              </a:lnSpc>
            </a:pPr>
          </a:p>
          <a:p>
            <a:pPr algn="l">
              <a:lnSpc>
                <a:spcPts val="2722"/>
              </a:lnSpc>
            </a:pPr>
            <a:r>
              <a:rPr lang="en-US" sz="2268">
                <a:solidFill>
                  <a:srgbClr val="1B243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Penghasilan_Ortu dan Jenis_Kelamin tidak muncul pada 3 level teratas pohon ini — berbeda dari kasus di mana fitur sosio-ekonomi mendominasi. Tetap perlu audit keadilan sebelum dipakai untuk keputusan resmi (mis. beasiswa).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7213580" y="9710928"/>
            <a:ext cx="822960" cy="438912"/>
            <a:chOff x="0" y="0"/>
            <a:chExt cx="1097280" cy="58521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97280" cy="585216"/>
            </a:xfrm>
            <a:custGeom>
              <a:avLst/>
              <a:gdLst/>
              <a:ahLst/>
              <a:cxnLst/>
              <a:rect r="r" b="b" t="t" l="l"/>
              <a:pathLst>
                <a:path h="585216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428" t="0" r="-18428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1097280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9AA7B0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04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950440" y="7680960"/>
            <a:ext cx="4663440" cy="4663440"/>
            <a:chOff x="0" y="0"/>
            <a:chExt cx="6217920" cy="62179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217920" cy="6217920"/>
            </a:xfrm>
            <a:custGeom>
              <a:avLst/>
              <a:gdLst/>
              <a:ahLst/>
              <a:cxnLst/>
              <a:rect r="r" b="b" t="t" l="l"/>
              <a:pathLst>
                <a:path h="6217920" w="6217920">
                  <a:moveTo>
                    <a:pt x="0" y="3108960"/>
                  </a:moveTo>
                  <a:cubicBezTo>
                    <a:pt x="0" y="1391920"/>
                    <a:pt x="1391920" y="0"/>
                    <a:pt x="3108960" y="0"/>
                  </a:cubicBezTo>
                  <a:cubicBezTo>
                    <a:pt x="4826000" y="0"/>
                    <a:pt x="6217920" y="1391920"/>
                    <a:pt x="6217920" y="3108960"/>
                  </a:cubicBezTo>
                  <a:cubicBezTo>
                    <a:pt x="6217920" y="4826000"/>
                    <a:pt x="4826000" y="6217920"/>
                    <a:pt x="3108960" y="6217920"/>
                  </a:cubicBezTo>
                  <a:cubicBezTo>
                    <a:pt x="1391920" y="6217920"/>
                    <a:pt x="0" y="4826000"/>
                    <a:pt x="0" y="3108960"/>
                  </a:cubicBezTo>
                  <a:close/>
                </a:path>
              </a:pathLst>
            </a:custGeom>
            <a:solidFill>
              <a:srgbClr val="065A82">
                <a:alpha val="20000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754380"/>
            <a:ext cx="466344" cy="466344"/>
            <a:chOff x="0" y="0"/>
            <a:chExt cx="621792" cy="62179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475488" y="0"/>
                  </a:lnTo>
                  <a:cubicBezTo>
                    <a:pt x="556260" y="0"/>
                    <a:pt x="621792" y="65532"/>
                    <a:pt x="621792" y="146304"/>
                  </a:cubicBezTo>
                  <a:lnTo>
                    <a:pt x="621792" y="475488"/>
                  </a:lnTo>
                  <a:cubicBezTo>
                    <a:pt x="621792" y="556260"/>
                    <a:pt x="556260" y="621792"/>
                    <a:pt x="475488" y="621792"/>
                  </a:cubicBezTo>
                  <a:lnTo>
                    <a:pt x="146304" y="621792"/>
                  </a:lnTo>
                  <a:cubicBezTo>
                    <a:pt x="65532" y="621792"/>
                    <a:pt x="0" y="556260"/>
                    <a:pt x="0" y="475488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508760" y="685800"/>
            <a:ext cx="14401800" cy="822960"/>
            <a:chOff x="0" y="0"/>
            <a:chExt cx="19202400" cy="10972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2024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5154" r="0" b="-286821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19202400" cy="1097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FFFFFF"/>
                  </a:solidFill>
                  <a:latin typeface="Libre Baskerville Bold"/>
                  <a:ea typeface="Libre Baskerville Bold"/>
                  <a:cs typeface="Libre Baskerville Bold"/>
                  <a:sym typeface="Libre Baskerville Bold"/>
                </a:rPr>
                <a:t>Simulasi Prediksi &amp; Kesimpulan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22960" y="1783080"/>
            <a:ext cx="16527780" cy="2348103"/>
            <a:chOff x="0" y="0"/>
            <a:chExt cx="22037040" cy="313080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037041" cy="3130804"/>
            </a:xfrm>
            <a:custGeom>
              <a:avLst/>
              <a:gdLst/>
              <a:ahLst/>
              <a:cxnLst/>
              <a:rect r="r" b="b" t="t" l="l"/>
              <a:pathLst>
                <a:path h="3130804" w="22037041">
                  <a:moveTo>
                    <a:pt x="0" y="161590"/>
                  </a:moveTo>
                  <a:cubicBezTo>
                    <a:pt x="0" y="72379"/>
                    <a:pt x="65532" y="0"/>
                    <a:pt x="146304" y="0"/>
                  </a:cubicBezTo>
                  <a:lnTo>
                    <a:pt x="21890737" y="0"/>
                  </a:lnTo>
                  <a:cubicBezTo>
                    <a:pt x="21971508" y="0"/>
                    <a:pt x="22037041" y="72379"/>
                    <a:pt x="22037041" y="161590"/>
                  </a:cubicBezTo>
                  <a:lnTo>
                    <a:pt x="22037041" y="2969214"/>
                  </a:lnTo>
                  <a:cubicBezTo>
                    <a:pt x="22037041" y="3058425"/>
                    <a:pt x="21971508" y="3130804"/>
                    <a:pt x="21890737" y="3130804"/>
                  </a:cubicBezTo>
                  <a:lnTo>
                    <a:pt x="146304" y="3130804"/>
                  </a:lnTo>
                  <a:cubicBezTo>
                    <a:pt x="65532" y="3130804"/>
                    <a:pt x="0" y="3058425"/>
                    <a:pt x="0" y="296921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165860" y="1900388"/>
            <a:ext cx="15841980" cy="2113487"/>
            <a:chOff x="0" y="0"/>
            <a:chExt cx="21122640" cy="2817983"/>
          </a:xfrm>
        </p:grpSpPr>
        <p:sp>
          <p:nvSpPr>
            <p:cNvPr name="Freeform 12" id="12" descr="Cuplikan_layar_2026-09-07_231044.png"/>
            <p:cNvSpPr/>
            <p:nvPr/>
          </p:nvSpPr>
          <p:spPr>
            <a:xfrm flipH="false" flipV="false" rot="0">
              <a:off x="0" y="0"/>
              <a:ext cx="21122639" cy="2817983"/>
            </a:xfrm>
            <a:custGeom>
              <a:avLst/>
              <a:gdLst/>
              <a:ahLst/>
              <a:cxnLst/>
              <a:rect r="r" b="b" t="t" l="l"/>
              <a:pathLst>
                <a:path h="2817983" w="21122639">
                  <a:moveTo>
                    <a:pt x="0" y="0"/>
                  </a:moveTo>
                  <a:lnTo>
                    <a:pt x="21122639" y="0"/>
                  </a:lnTo>
                  <a:lnTo>
                    <a:pt x="21122639" y="2817983"/>
                  </a:lnTo>
                  <a:lnTo>
                    <a:pt x="0" y="28179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4817" r="0" b="-4818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822960" y="4131183"/>
            <a:ext cx="16527780" cy="438912"/>
            <a:chOff x="0" y="0"/>
            <a:chExt cx="22037040" cy="58521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037039" cy="585216"/>
            </a:xfrm>
            <a:custGeom>
              <a:avLst/>
              <a:gdLst/>
              <a:ahLst/>
              <a:cxnLst/>
              <a:rect r="r" b="b" t="t" l="l"/>
              <a:pathLst>
                <a:path h="585216" w="22037039">
                  <a:moveTo>
                    <a:pt x="0" y="0"/>
                  </a:moveTo>
                  <a:lnTo>
                    <a:pt x="22037039" y="0"/>
                  </a:lnTo>
                  <a:lnTo>
                    <a:pt x="22037039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3733" r="0" b="-683733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9525"/>
              <a:ext cx="22037040" cy="5756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i="true">
                  <a:solidFill>
                    <a:srgbClr val="9FB3C8"/>
                  </a:solidFill>
                  <a:latin typeface="Libre Baskerville Italics"/>
                  <a:ea typeface="Libre Baskerville Italics"/>
                  <a:cs typeface="Libre Baskerville Italics"/>
                  <a:sym typeface="Libre Baskerville Italics"/>
                </a:rPr>
                <a:t>Contoh hasil prediksi model pada data uji (kolom Status_Akademik = label aktual, Prediksi_Model = keluaran model)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822960" y="4741545"/>
            <a:ext cx="8092440" cy="1133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 b="true">
                <a:solidFill>
                  <a:srgbClr val="FFFFFF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Model sesekali salah pada kasus kontras —</a:t>
            </a:r>
            <a:r>
              <a:rPr lang="en-US" sz="1875">
                <a:solidFill>
                  <a:srgbClr val="CADCFC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mis. mahasiswa index 429 dengan IPK tinggi (3,8) tapi kehadiran rendah (52%) diprediksi “Lulus” padahal aktualnya “Tidak”. Ini menunjukkan model masih bisa terlalu mengandalkan satu fitur dominan.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086850" y="4457506"/>
            <a:ext cx="2855595" cy="4673159"/>
            <a:chOff x="0" y="0"/>
            <a:chExt cx="3591560" cy="58775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591560" cy="5877560"/>
            </a:xfrm>
            <a:custGeom>
              <a:avLst/>
              <a:gdLst/>
              <a:ahLst/>
              <a:cxnLst/>
              <a:rect r="r" b="b" t="t" l="l"/>
              <a:pathLst>
                <a:path h="5877560" w="3591560">
                  <a:moveTo>
                    <a:pt x="0" y="184150"/>
                  </a:moveTo>
                  <a:cubicBezTo>
                    <a:pt x="0" y="82423"/>
                    <a:pt x="82423" y="0"/>
                    <a:pt x="184150" y="0"/>
                  </a:cubicBezTo>
                  <a:lnTo>
                    <a:pt x="3407410" y="0"/>
                  </a:lnTo>
                  <a:cubicBezTo>
                    <a:pt x="3509137" y="0"/>
                    <a:pt x="3591560" y="82423"/>
                    <a:pt x="3591560" y="184150"/>
                  </a:cubicBezTo>
                  <a:lnTo>
                    <a:pt x="3591560" y="5693410"/>
                  </a:lnTo>
                  <a:cubicBezTo>
                    <a:pt x="3591560" y="5795137"/>
                    <a:pt x="3509137" y="5877560"/>
                    <a:pt x="3407410" y="5877560"/>
                  </a:cubicBezTo>
                  <a:lnTo>
                    <a:pt x="184150" y="5877560"/>
                  </a:lnTo>
                  <a:cubicBezTo>
                    <a:pt x="82423" y="5877560"/>
                    <a:pt x="0" y="5795137"/>
                    <a:pt x="0" y="5693410"/>
                  </a:cubicBezTo>
                  <a:close/>
                </a:path>
              </a:pathLst>
            </a:custGeom>
            <a:solidFill>
              <a:srgbClr val="1A2456"/>
            </a:solidFill>
            <a:ln w="19050" cap="sq">
              <a:solidFill>
                <a:srgbClr val="34407A"/>
              </a:solidFill>
              <a:prstDash val="solid"/>
              <a:miter/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9505188" y="5006340"/>
            <a:ext cx="2194560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0"/>
              </a:lnSpc>
            </a:pPr>
            <a:r>
              <a:rPr lang="en-US" sz="1950" b="true">
                <a:solidFill>
                  <a:srgbClr val="6FE3D6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Gaussian Naive Bayes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417368" y="6044565"/>
            <a:ext cx="2194560" cy="1133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9"/>
              </a:lnSpc>
            </a:pPr>
            <a:r>
              <a:rPr lang="en-US" sz="1899">
                <a:solidFill>
                  <a:srgbClr val="CADCFC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Rekomendasi baseline utama — metrik tertinggi &amp; cepat dihitung.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2035790" y="4457506"/>
            <a:ext cx="2855595" cy="4673159"/>
            <a:chOff x="0" y="0"/>
            <a:chExt cx="3591560" cy="587756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591560" cy="5877560"/>
            </a:xfrm>
            <a:custGeom>
              <a:avLst/>
              <a:gdLst/>
              <a:ahLst/>
              <a:cxnLst/>
              <a:rect r="r" b="b" t="t" l="l"/>
              <a:pathLst>
                <a:path h="5877560" w="3591560">
                  <a:moveTo>
                    <a:pt x="0" y="184150"/>
                  </a:moveTo>
                  <a:cubicBezTo>
                    <a:pt x="0" y="82423"/>
                    <a:pt x="82423" y="0"/>
                    <a:pt x="184150" y="0"/>
                  </a:cubicBezTo>
                  <a:lnTo>
                    <a:pt x="3407410" y="0"/>
                  </a:lnTo>
                  <a:cubicBezTo>
                    <a:pt x="3509137" y="0"/>
                    <a:pt x="3591560" y="82423"/>
                    <a:pt x="3591560" y="184150"/>
                  </a:cubicBezTo>
                  <a:lnTo>
                    <a:pt x="3591560" y="5693410"/>
                  </a:lnTo>
                  <a:cubicBezTo>
                    <a:pt x="3591560" y="5795137"/>
                    <a:pt x="3509137" y="5877560"/>
                    <a:pt x="3407410" y="5877560"/>
                  </a:cubicBezTo>
                  <a:lnTo>
                    <a:pt x="184150" y="5877560"/>
                  </a:lnTo>
                  <a:cubicBezTo>
                    <a:pt x="82423" y="5877560"/>
                    <a:pt x="0" y="5795137"/>
                    <a:pt x="0" y="5693410"/>
                  </a:cubicBezTo>
                  <a:close/>
                </a:path>
              </a:pathLst>
            </a:custGeom>
            <a:solidFill>
              <a:srgbClr val="1A2456"/>
            </a:solidFill>
            <a:ln w="19050" cap="sq">
              <a:solidFill>
                <a:srgbClr val="34407A"/>
              </a:solidFill>
              <a:prstDash val="solid"/>
              <a:miter/>
            </a:ln>
          </p:spPr>
        </p:sp>
      </p:grpSp>
      <p:sp>
        <p:nvSpPr>
          <p:cNvPr name="TextBox 23" id="23"/>
          <p:cNvSpPr txBox="true"/>
          <p:nvPr/>
        </p:nvSpPr>
        <p:spPr>
          <a:xfrm rot="0">
            <a:off x="12454128" y="5006340"/>
            <a:ext cx="2194560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0"/>
              </a:lnSpc>
            </a:pPr>
            <a:r>
              <a:rPr lang="en-US" sz="1950" b="true">
                <a:solidFill>
                  <a:srgbClr val="6FE3D6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Decision Tree (depth=3)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197002" y="6044565"/>
            <a:ext cx="2451686" cy="1133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9"/>
              </a:lnSpc>
            </a:pPr>
            <a:r>
              <a:rPr lang="en-US" sz="1899">
                <a:solidFill>
                  <a:srgbClr val="CADCFC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Pilih jika aturan perlu mudah dijelaskan ke pihak kampus.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5000447" y="4483227"/>
            <a:ext cx="2839878" cy="4647438"/>
            <a:chOff x="0" y="0"/>
            <a:chExt cx="3591560" cy="58775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591560" cy="5877560"/>
            </a:xfrm>
            <a:custGeom>
              <a:avLst/>
              <a:gdLst/>
              <a:ahLst/>
              <a:cxnLst/>
              <a:rect r="r" b="b" t="t" l="l"/>
              <a:pathLst>
                <a:path h="5877560" w="3591560">
                  <a:moveTo>
                    <a:pt x="0" y="184150"/>
                  </a:moveTo>
                  <a:cubicBezTo>
                    <a:pt x="0" y="82423"/>
                    <a:pt x="82423" y="0"/>
                    <a:pt x="184150" y="0"/>
                  </a:cubicBezTo>
                  <a:lnTo>
                    <a:pt x="3407410" y="0"/>
                  </a:lnTo>
                  <a:cubicBezTo>
                    <a:pt x="3509137" y="0"/>
                    <a:pt x="3591560" y="82423"/>
                    <a:pt x="3591560" y="184150"/>
                  </a:cubicBezTo>
                  <a:lnTo>
                    <a:pt x="3591560" y="5693410"/>
                  </a:lnTo>
                  <a:cubicBezTo>
                    <a:pt x="3591560" y="5795137"/>
                    <a:pt x="3509137" y="5877560"/>
                    <a:pt x="3407410" y="5877560"/>
                  </a:cubicBezTo>
                  <a:lnTo>
                    <a:pt x="184150" y="5877560"/>
                  </a:lnTo>
                  <a:cubicBezTo>
                    <a:pt x="82423" y="5877560"/>
                    <a:pt x="0" y="5795137"/>
                    <a:pt x="0" y="5693410"/>
                  </a:cubicBezTo>
                  <a:close/>
                </a:path>
              </a:pathLst>
            </a:custGeom>
            <a:solidFill>
              <a:srgbClr val="1A2456"/>
            </a:solidFill>
            <a:ln w="19050" cap="sq">
              <a:solidFill>
                <a:srgbClr val="34407A"/>
              </a:solidFill>
              <a:prstDash val="solid"/>
              <a:miter/>
            </a:ln>
          </p:spPr>
        </p:sp>
      </p:grpSp>
      <p:sp>
        <p:nvSpPr>
          <p:cNvPr name="TextBox 27" id="27"/>
          <p:cNvSpPr txBox="true"/>
          <p:nvPr/>
        </p:nvSpPr>
        <p:spPr>
          <a:xfrm rot="0">
            <a:off x="15403068" y="5006340"/>
            <a:ext cx="2194560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0"/>
              </a:lnSpc>
            </a:pPr>
            <a:r>
              <a:rPr lang="en-US" sz="1950" b="true">
                <a:solidFill>
                  <a:srgbClr val="6FE3D6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Langkah lanjut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5403068" y="6044565"/>
            <a:ext cx="2194560" cy="1419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9"/>
              </a:lnSpc>
            </a:pPr>
            <a:r>
              <a:rPr lang="en-US" sz="1899">
                <a:solidFill>
                  <a:srgbClr val="CADCFC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Uji fitur tambahan &amp; audit keadilan sebelum dipakai institusional.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7213580" y="9710928"/>
            <a:ext cx="822960" cy="438912"/>
            <a:chOff x="0" y="0"/>
            <a:chExt cx="1097280" cy="58521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97280" cy="585216"/>
            </a:xfrm>
            <a:custGeom>
              <a:avLst/>
              <a:gdLst/>
              <a:ahLst/>
              <a:cxnLst/>
              <a:rect r="r" b="b" t="t" l="l"/>
              <a:pathLst>
                <a:path h="585216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428" t="0" r="-18428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1097280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9FB3C8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05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DAHUiKChZws</dc:identifier>
  <dcterms:modified xsi:type="dcterms:W3CDTF">2011-08-01T06:04:30Z</dcterms:modified>
  <cp:revision>1</cp:revision>
  <dc:title>TUGAS MACHINE LEARNING_PREDIKSI KELULUSAN MAHASISWA.pptx</dc:title>
</cp:coreProperties>
</file>